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Return (%)</c:v>
                </c:pt>
              </c:strCache>
            </c:strRef>
          </c:tx>
          <c:spPr>
            <a:solidFill>
              <a:srgbClr val="607D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07D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890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C54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D97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Bank FD</c:v>
                  </c:pt>
                  <c:pt idx="1">
                    <c:v>PPF</c:v>
                  </c:pt>
                  <c:pt idx="2">
                    <c:v>Mutual Fund
(Avg)</c:v>
                  </c:pt>
                  <c:pt idx="3">
                    <c:v>Stock Market
(Avg)</c:v>
                  </c:pt>
                  <c:pt idx="4">
                    <c:v>VS Plan 1</c:v>
                  </c:pt>
                  <c:pt idx="5">
                    <c:v>VS Plan 2</c:v>
                  </c:pt>
                  <c:pt idx="6">
                    <c:v>VS Plan 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7.1</c:v>
                </c:pt>
                <c:pt idx="2">
                  <c:v>12</c:v>
                </c:pt>
                <c:pt idx="3">
                  <c:v>15</c:v>
                </c:pt>
                <c:pt idx="4">
                  <c:v>36</c:v>
                </c:pt>
                <c:pt idx="5">
                  <c:v>48</c:v>
                </c:pt>
                <c:pt idx="6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4444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5252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C9A227">
              <a:alpha val="15000"/>
            </a:srgbClr>
          </a:solidFill>
          <a:ln w="12700">
            <a:solidFill>
              <a:srgbClr val="C9A22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82880"/>
            <a:ext cx="3657600" cy="3657600"/>
          </a:xfrm>
          <a:prstGeom prst="ellipse">
            <a:avLst/>
          </a:prstGeom>
          <a:solidFill>
            <a:srgbClr val="C9A227">
              <a:alpha val="22000"/>
            </a:srgbClr>
          </a:solidFill>
          <a:ln w="12700">
            <a:solidFill>
              <a:srgbClr val="C9A22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011680" cy="201168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51760" y="6400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TRADING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2651760" y="1600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MARKETS MEET MASTERY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651760" y="2148840"/>
            <a:ext cx="4572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5176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  —  2025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Trading. Consistent Returns. Proven Strategy.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For Accredited Investors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96596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₹240T+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143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2057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Capital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41448" y="1051560"/>
            <a:ext cx="196596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48M+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852928" y="1965960"/>
            <a:ext cx="1143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2057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Demat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in India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4296" y="1051560"/>
            <a:ext cx="196596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4296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3–5%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065776" y="1965960"/>
            <a:ext cx="1143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2057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Returns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Target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67144" y="1051560"/>
            <a:ext cx="196596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67144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5–8x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278624" y="1965960"/>
            <a:ext cx="1143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2057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FD Returns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6118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capital markets are booming. With 48M+ active investors and the market growing at record pace, professional trading firms are uniquely placed to generate returns that leave conventional savings instruments far behind.</a:t>
            </a:r>
            <a:endParaRPr lang="en-US" sz="13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663440"/>
            <a:ext cx="914400" cy="914400"/>
          </a:xfrm>
          <a:prstGeom prst="ellipse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— turning market opportunity into investor wealth since 2023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FOUNDER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377440" cy="2377440"/>
          </a:xfrm>
          <a:prstGeom prst="ellipse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Add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Vinayak P. Kamble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Lead Trader  |  VS Trading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103120"/>
            <a:ext cx="36576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21284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B.E. / B.Tech Engineer  [Add Your Branch &amp; College]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642616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[X] Years of Active Trading Experience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07238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Specializes in Equity, Swing &amp; Derivatives Trading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50215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Managed ₹2Cr+ in investor capital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393192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[Add Your City, Maharashtra]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8412480" cy="658368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9592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D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engineering mindset drives everything I do in the markets — data, systems, and discipline. No emotion. Just results."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TRACK RECORD — 14 MONTHS VERIFIED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96596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51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860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Months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41448" y="1005840"/>
            <a:ext cx="196596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1051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41448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54296" y="1005840"/>
            <a:ext cx="196596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1051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₹2Cr+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54296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67144" y="1005840"/>
            <a:ext cx="196596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7144" y="1051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67144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of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Returns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231343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1078992" cy="29260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951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22951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29968" y="22951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27248" y="22951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4760" y="22951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2951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50408" y="22951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47688" y="22951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2267712"/>
            <a:ext cx="7059168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29514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29968" y="229514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27248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94760" y="229514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50408" y="229514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47688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2606040"/>
            <a:ext cx="705916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62432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'23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71600" y="26243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29968" y="262432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'23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127248" y="26243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" y="2898648"/>
            <a:ext cx="7059168" cy="283464"/>
          </a:xfrm>
          <a:prstGeom prst="rect">
            <a:avLst/>
          </a:prstGeom>
          <a:solidFill>
            <a:srgbClr val="F0EDE5"/>
          </a:solidFill>
          <a:ln w="12700">
            <a:solidFill>
              <a:srgbClr val="F0ED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91693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'24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371600" y="29169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029968" y="291693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'24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127248" y="29169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56032" y="3191256"/>
            <a:ext cx="705916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20954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'24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371600" y="32095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029968" y="320954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'24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127248" y="32095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56032" y="3483864"/>
            <a:ext cx="7059168" cy="283464"/>
          </a:xfrm>
          <a:prstGeom prst="rect">
            <a:avLst/>
          </a:prstGeom>
          <a:solidFill>
            <a:srgbClr val="F0EDE5"/>
          </a:solidFill>
          <a:ln w="12700">
            <a:solidFill>
              <a:srgbClr val="F0ED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50215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'24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371600" y="35021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029968" y="350215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'24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127248" y="35021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6032" y="3776472"/>
            <a:ext cx="705916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79476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'24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371600" y="3794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029968" y="379476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'24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127248" y="3794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56032" y="4069080"/>
            <a:ext cx="7059168" cy="283464"/>
          </a:xfrm>
          <a:prstGeom prst="rect">
            <a:avLst/>
          </a:prstGeom>
          <a:solidFill>
            <a:srgbClr val="F0EDE5"/>
          </a:solidFill>
          <a:ln w="12700">
            <a:solidFill>
              <a:srgbClr val="F0ED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0873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'24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371600" y="40873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029968" y="40873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'24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127248" y="40873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56032" y="4361688"/>
            <a:ext cx="705916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37997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'24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371600" y="43799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029968" y="437997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'24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127248" y="43799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56032" y="4590288"/>
            <a:ext cx="7059168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0040" y="4599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Return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400800" y="45994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7432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Performance data based on managed accounts. Past returns indicative only.</a:t>
            </a:r>
            <a:endParaRPr lang="en-US" sz="900" dirty="0"/>
          </a:p>
        </p:txBody>
      </p:sp>
      <p:pic>
        <p:nvPicPr>
          <p:cNvPr id="7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663440"/>
            <a:ext cx="914400" cy="914400"/>
          </a:xfrm>
          <a:prstGeom prst="ellipse">
            <a:avLst/>
          </a:prstGeom>
        </p:spPr>
      </p:pic>
      <p:sp>
        <p:nvSpPr>
          <p:cNvPr id="75" name="Shape 7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&amp; VISION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143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MISSION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democratize professional-grade trading returns — offering transparent, structured plans that consistently outperform conventional savings, empowering every investor to build lasting wealth.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931920" cy="3291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393192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143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🔭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VISION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become India's most trusted trading investment firm — known for unwavering commitment to investor returns, transparency, and market mastery. Where intelligent trading is the cornerstone of every portfolio.</a:t>
            </a:r>
            <a:endParaRPr lang="en-US" sz="12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663440"/>
            <a:ext cx="914400" cy="914400"/>
          </a:xfrm>
          <a:prstGeom prst="ellipse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INVESTORS CHOOSE VS TRADING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1170432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97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24712" y="109728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Monthly Return Strategies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55448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proprietary system generates consistent monthly income — not luck, but disciplined, rule-based execution.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170432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097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59552" y="109728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High-Yield Annual Investment Solutions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64608" y="155448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3–5% monthly compounding delivers 36–60% annually — light years ahead of mutual funds and FDs.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04288"/>
            <a:ext cx="4023360" cy="1170432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23957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24712" y="239572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Wealth &amp; Portfolio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2852928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plans built around YOUR capital, timeline, and goals. One size never fits all.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304288"/>
            <a:ext cx="4023360" cy="1170432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4608" y="23957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59552" y="239572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Equity &amp; Swing Market Insights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2852928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expertise in equity markets and short-term swing trades to capture returns in any market condition.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02736"/>
            <a:ext cx="4023360" cy="1170432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" y="369417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24712" y="3694176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Capital Allocation &amp; Fund Mgmt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4151376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deployed within strict risk controls. Position sizing, stop-losses, and diversification built in.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02736"/>
            <a:ext cx="4023360" cy="1170432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369417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59552" y="3694176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Compounding &amp; Wealth Building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4151376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long-term plan lets your wealth compound over 3–10 years for truly life-changing financial results.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PATHS TO WEALTH — CHOOSE YOURS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011680" cy="3840480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01168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" y="1572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Growth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28016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011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Return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128016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4015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97280" y="3401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₹50K–₹2L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8313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Fee: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38313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95728" y="1005840"/>
            <a:ext cx="2011680" cy="38404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95728" y="1005840"/>
            <a:ext cx="2011680" cy="91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95728" y="1005840"/>
            <a:ext cx="201168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95728" y="1024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MOST POPULAR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95728" y="1444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395728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Growth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61488" y="2176272"/>
            <a:ext cx="128016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5728" y="22677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2395728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Return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61488" y="3136392"/>
            <a:ext cx="1280160" cy="274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3227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10128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87168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10128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₹2L–₹5L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87168" y="40873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Fee: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10128" y="4087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08576" y="1005840"/>
            <a:ext cx="201168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08576" y="1005840"/>
            <a:ext cx="201168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3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608576" y="1572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Growth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74336" y="1920240"/>
            <a:ext cx="128016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08576" y="2011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4608576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Return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74336" y="2880360"/>
            <a:ext cx="128016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22976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0016" y="34015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22976" y="3401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₹5L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00016" y="38313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Fee: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22976" y="38313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21424" y="1005840"/>
            <a:ext cx="2011680" cy="3840480"/>
          </a:xfrm>
          <a:prstGeom prst="rect">
            <a:avLst/>
          </a:prstGeom>
          <a:solidFill>
            <a:srgbClr val="1B4332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21424" y="1005840"/>
            <a:ext cx="201168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21424" y="1005840"/>
            <a:ext cx="201168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21424" y="1024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LONG TERM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21424" y="1444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4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6821424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Growth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187184" y="2176272"/>
            <a:ext cx="128016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21424" y="22677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6821424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Return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187184" y="3136392"/>
            <a:ext cx="128016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12864" y="3227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Profit: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735824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912864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735824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912864" y="40873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Fee: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735824" y="4087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Negotiable</a:t>
            </a:r>
            <a:endParaRPr lang="en-US" sz="1000" dirty="0"/>
          </a:p>
        </p:txBody>
      </p:sp>
      <p:pic>
        <p:nvPicPr>
          <p:cNvPr id="6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663440"/>
            <a:ext cx="914400" cy="914400"/>
          </a:xfrm>
          <a:prstGeom prst="ellipse">
            <a:avLst/>
          </a:prstGeom>
        </p:spPr>
      </p:pic>
      <p:sp>
        <p:nvSpPr>
          <p:cNvPr id="65" name="Shape 6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4  </a:t>
            </a:r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LEGACY GROWTH — LONG-TERM WEALTH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investors who think in decades, not months.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54864" cy="4389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Horizon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6459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10 Years (Fully Customizable)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93976"/>
            <a:ext cx="8412480" cy="438912"/>
          </a:xfrm>
          <a:prstGeom prst="rect">
            <a:avLst/>
          </a:prstGeom>
          <a:solidFill>
            <a:srgbClr val="163D2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93976"/>
            <a:ext cx="54864" cy="4389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396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Required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1396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to investor capacity &amp; goals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87752"/>
            <a:ext cx="841248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87752"/>
            <a:ext cx="54864" cy="4389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33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6334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per agreed terms — capital &amp; tenure based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81528"/>
            <a:ext cx="8412480" cy="438912"/>
          </a:xfrm>
          <a:prstGeom prst="rect">
            <a:avLst/>
          </a:prstGeom>
          <a:solidFill>
            <a:srgbClr val="163D2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81528"/>
            <a:ext cx="54864" cy="4389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27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Updates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31272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detailed portfolio reports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575304"/>
            <a:ext cx="841248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75304"/>
            <a:ext cx="54864" cy="4389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210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Fee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36210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Mutually negotiated at plan setup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8412480" cy="438912"/>
          </a:xfrm>
          <a:prstGeom prst="rect">
            <a:avLst/>
          </a:prstGeom>
          <a:solidFill>
            <a:srgbClr val="163D2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69080"/>
            <a:ext cx="54864" cy="4389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14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Policy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41148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exit windows at agreed milestones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0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 PROJECTIONS — SEE EXACTLY WHAT YOU EARN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841248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692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70432" y="9692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12848" y="969264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0" y="96926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 Gross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0" y="9692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94960" y="96926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37960" y="96926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426464"/>
            <a:ext cx="84124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4447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14447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₹50,000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12848" y="1444752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₹1,500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4447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₹18,000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14447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₹1,440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14447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₹16,560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₹66,560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1828800"/>
            <a:ext cx="8412480" cy="393192"/>
          </a:xfrm>
          <a:prstGeom prst="rect">
            <a:avLst/>
          </a:prstGeom>
          <a:solidFill>
            <a:srgbClr val="F0EDE5"/>
          </a:solidFill>
          <a:ln w="12700">
            <a:solidFill>
              <a:srgbClr val="F0E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18470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70432" y="18470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₹1,00,000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12848" y="184708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184708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₹36,000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18470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₹2,880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1847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₹33,120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₹1,33,120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2231136"/>
            <a:ext cx="84124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2494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70432" y="22494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₹2,00,000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12848" y="2249424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₹6,000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224942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₹72,000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22494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₹5,760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94960" y="22494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₹66,240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2249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₹2,66,240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2633472"/>
            <a:ext cx="8412480" cy="393192"/>
          </a:xfrm>
          <a:prstGeom prst="rect">
            <a:avLst/>
          </a:prstGeom>
          <a:solidFill>
            <a:srgbClr val="F0EDE5"/>
          </a:solidFill>
          <a:ln w="12700">
            <a:solidFill>
              <a:srgbClr val="F0ED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26517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₹2,00,000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12848" y="265176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₹8,000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91840" y="26517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₹96,000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80560" y="26517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₹9,600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94960" y="2651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₹86,400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37960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₹2,86,400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" y="3035808"/>
            <a:ext cx="84124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30540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70432" y="30540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₹3,00,000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212848" y="3054096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₹12,000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91840" y="30540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₹1,44,000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480560" y="30540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₹14,400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94960" y="30540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₹1,29,600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37960" y="30540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₹4,29,600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56032" y="3438144"/>
            <a:ext cx="8412480" cy="393192"/>
          </a:xfrm>
          <a:prstGeom prst="rect">
            <a:avLst/>
          </a:prstGeom>
          <a:solidFill>
            <a:srgbClr val="F0EDE5"/>
          </a:solidFill>
          <a:ln w="12700">
            <a:solidFill>
              <a:srgbClr val="F0ED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" y="34564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70432" y="34564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₹5,00,000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212848" y="3456432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₹20,000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291840" y="34564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₹2,40,000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480560" y="34564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₹24,000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94960" y="34564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₹2,16,000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537960" y="3456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₹7,16,000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56032" y="3840480"/>
            <a:ext cx="84124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38587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3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170432" y="38587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₹5,00,000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12848" y="385876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₹25,000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291840" y="38587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₹3,00,000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480560" y="38587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394960" y="3858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₹2,55,000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537960" y="38587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₹7,55,000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56032" y="4242816"/>
            <a:ext cx="8412480" cy="393192"/>
          </a:xfrm>
          <a:prstGeom prst="rect">
            <a:avLst/>
          </a:prstGeom>
          <a:solidFill>
            <a:srgbClr val="F0EDE5"/>
          </a:solidFill>
          <a:ln w="12700">
            <a:solidFill>
              <a:srgbClr val="F0ED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6032" y="426110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3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170432" y="42611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₹10,00,000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212848" y="4261104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₹50,000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291840" y="42611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₹6,00,000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480560" y="426110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₹90,000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394960" y="42611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₹5,10,000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537960" y="42611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₹15,10,000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56032" y="46451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calculated on 12-month plan | Net Profit = Gross Profit minus Closing Fee | Principal fully returned on maturity</a:t>
            </a:r>
            <a:endParaRPr lang="en-US" sz="850" dirty="0"/>
          </a:p>
        </p:txBody>
      </p:sp>
      <p:pic>
        <p:nvPicPr>
          <p:cNvPr id="7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663440"/>
            <a:ext cx="914400" cy="914400"/>
          </a:xfrm>
          <a:prstGeom prst="ellipse">
            <a:avLst/>
          </a:prstGeom>
        </p:spPr>
      </p:pic>
      <p:sp>
        <p:nvSpPr>
          <p:cNvPr id="78" name="Shape 7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EARLY EXIT SCENARIOS &amp; RISK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 Early Exit — What You Receive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2004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63040"/>
            <a:ext cx="594360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7218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147218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59152" y="1472184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472184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60520" y="1472184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4920" y="1472184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810512"/>
            <a:ext cx="5943600" cy="34747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28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2 — ₹3L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1828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months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59152" y="18288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₹36,000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82880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₹3,600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60520" y="182880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₹32,400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18288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₹3,32,400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176272"/>
            <a:ext cx="5943600" cy="347472"/>
          </a:xfrm>
          <a:prstGeom prst="rect">
            <a:avLst/>
          </a:prstGeom>
          <a:solidFill>
            <a:srgbClr val="252525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1945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2 — ₹3L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25880" y="21945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59152" y="21945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₹72,000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219456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₹7,200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60520" y="219456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₹64,800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1945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₹3,64,800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542032"/>
            <a:ext cx="5943600" cy="34747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560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2 — ₹3L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25880" y="2560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months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59152" y="2560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₹1,08,000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37560" y="25603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₹10,800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60520" y="25603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₹97,200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25603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₹3,97,200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2907792"/>
            <a:ext cx="5943600" cy="347472"/>
          </a:xfrm>
          <a:prstGeom prst="rect">
            <a:avLst/>
          </a:prstGeom>
          <a:solidFill>
            <a:srgbClr val="252525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9260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3 — ₹5L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325880" y="29260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59152" y="2926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₹1,50,000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292608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₹22,500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292608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₹1,27,500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29260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₹6,27,500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6032" y="33284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exit permitted at any time | Closing fee applies on profits earned to date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How We Protect Your Capital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00800" y="1389888"/>
            <a:ext cx="201168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1600200"/>
            <a:ext cx="2606040" cy="694944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82512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76288" y="1645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Stop-Loss 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Trade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76288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1-2% loss per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— auto triggered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55080" y="2386584"/>
            <a:ext cx="2606040" cy="694944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382512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876288" y="2432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Sizing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876288" y="2752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&gt;5% capital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single position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55080" y="3172968"/>
            <a:ext cx="2606040" cy="694944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382512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876288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Diversification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876288" y="3538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instruments,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sectors &amp; strategies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55080" y="3959352"/>
            <a:ext cx="2606040" cy="694944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382512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💵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876288" y="40050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Buffer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76288" y="4325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capital held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liquid assets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vs Traditional Investment Options (Annual Returns %)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4 SIMPLE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23360" cy="16642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161288"/>
            <a:ext cx="594360" cy="5943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61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6424" y="1179576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Choose Your Plan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5506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from Plans 1–4 based on your capital, risk appetite, and return goals. Our team walks you through every option.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6642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161288"/>
            <a:ext cx="594360" cy="5943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161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41264" y="1179576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Sign &amp; Onboard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5506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 simple investment agreement with clear terms. Full documentation provided. No hidden clauses. Ever.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023360" cy="16642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3035808"/>
            <a:ext cx="594360" cy="5943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035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6424" y="3054096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Transfer Funds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2958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Securely transfer your investment. Receive instant confirmation, a signed receipt, and your investment timeline.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6642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3035808"/>
            <a:ext cx="594360" cy="5943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035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41264" y="3054096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Earn &amp; Grow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52958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returns credited to your account. Quarterly reports for long-term plans. Watch your wealth compound.</a:t>
            </a:r>
            <a:endParaRPr lang="en-US" sz="11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663440"/>
            <a:ext cx="914400" cy="914400"/>
          </a:xfrm>
          <a:prstGeom prst="ellipse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FREQUENTLY ASKED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02336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789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markets crash or go down?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72184"/>
            <a:ext cx="3840480" cy="274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36192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systematic stop-loss strategy limits losses to 1-2% per trade. We hold liquidity buffers and diversify across instruments — so a market dip doesn't wipe out your returns.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87552"/>
            <a:ext cx="402336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0789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0789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exit my investment early?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472184"/>
            <a:ext cx="3840480" cy="274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36192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Yes. Early exit is permitted at any time. You receive all returns earned up to that date, minus the closing fee on those profits. Your principal is fully returned.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02336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377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and when are returns paid?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70632"/>
            <a:ext cx="3840480" cy="274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returns are credited directly to your registered bank account by the 5th of every month. For long-term plans, quarterly statements are provided.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02336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2377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my principal safe?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770632"/>
            <a:ext cx="3840480" cy="274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834640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protection is our first priority. Principal is never risked beyond the agreed framework. Strict position sizing ensures your core investment is insulated from trading losses.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584448"/>
            <a:ext cx="402336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6758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36758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documents do I need to start?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3840480" cy="274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3308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basics: PAN card + Aadhaar + bank account details + signed investment agreement. That's it. We keep it simple so you can start fast.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584448"/>
            <a:ext cx="402336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36758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36758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I want a custom plan?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4069080"/>
            <a:ext cx="3840480" cy="274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13308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4 (Legacy Growth) is built for this. Tell us your capital, timeline, and expectations — we design a tailored structure just for you.</a:t>
            </a:r>
            <a:endParaRPr lang="en-US" sz="10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663440"/>
            <a:ext cx="914400" cy="914400"/>
          </a:xfrm>
          <a:prstGeom prst="ellipse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LEGAL &amp; COMPLIANCE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0" y="731520"/>
            <a:ext cx="2743200" cy="2743200"/>
          </a:xfrm>
          <a:prstGeom prst="ellipse">
            <a:avLst/>
          </a:prstGeom>
          <a:solidFill>
            <a:srgbClr val="C9A227">
              <a:alpha val="10000"/>
            </a:srgbClr>
          </a:solidFill>
          <a:ln w="12700">
            <a:solidFill>
              <a:srgbClr val="C9A227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229600" cy="6583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069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Business 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06984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operates as a legally registered business entity. Investment agreements are formally documented and signed by both parties for every transaction.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8229600" cy="6583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73936"/>
            <a:ext cx="64008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18379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Agreement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1837944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investor receives a signed investment agreement detailing capital amount, return structure, tenure, exit terms, and closing fee — fully transparent before any funds are transferred.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42032"/>
            <a:ext cx="8229600" cy="6583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42032"/>
            <a:ext cx="64008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Segregation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606040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capital is tracked and managed separately from operational funds. You always know the status of your principal.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10128"/>
            <a:ext cx="8229600" cy="6583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10128"/>
            <a:ext cx="64008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374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3374136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is committed to operating within applicable Indian financial regulations. Investors are advised to consult a financial advisor. All investments carry inherent risk.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8229600" cy="6583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078224"/>
            <a:ext cx="64008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4142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Rights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4142232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investors have the right to regular statements, early exit (with conditions), and direct access to the founding team for any queries or concerns.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 |  Where Markets Meet Mastery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3657600" cy="3657600"/>
          </a:xfrm>
          <a:prstGeom prst="ellips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START YOUR WEALTH JOURNEY?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1170432"/>
            <a:ext cx="64008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984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50+ investors already earning consistent returns with VS Trading.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1828800"/>
            <a:ext cx="5852160" cy="2331720"/>
          </a:xfrm>
          <a:prstGeom prst="rect">
            <a:avLst/>
          </a:prstGeom>
          <a:solidFill>
            <a:srgbClr val="2C2C2C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0" y="1828800"/>
            <a:ext cx="5852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993392"/>
            <a:ext cx="1005840" cy="100584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19933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Vinayak P. Kamble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10896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Lead Trader  |  VS Trading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08960" y="2798064"/>
            <a:ext cx="32004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0" y="29077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+91 9765465493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108960" y="32461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  vstrading2712@gmail.com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108960" y="3584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WhatsApp for quick response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Trading — Where Markets Meet Mastery  |  Confidential Investor Document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 Trading – Investor Pitch Deck v2</dc:title>
  <dc:subject>PptxGenJS Presentation</dc:subject>
  <dc:creator>PptxGenJS</dc:creator>
  <cp:lastModifiedBy>PptxGenJS</cp:lastModifiedBy>
  <cp:revision>1</cp:revision>
  <dcterms:created xsi:type="dcterms:W3CDTF">2026-04-26T02:17:25Z</dcterms:created>
  <dcterms:modified xsi:type="dcterms:W3CDTF">2026-04-26T02:17:25Z</dcterms:modified>
</cp:coreProperties>
</file>